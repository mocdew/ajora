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we're Ajora. Over the next few minutes I'll show you why every multi-bank app on the market is quietly lying to its users about their own money — and how we fix it, then go further than anyone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problems, and they compound. First the math is broken. Second, even if it weren't, these tools are blind to the way money actually moves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moment. We show a naive consolidated dashboard, then reveal how much of that "income" is phantom. The exact figure comes from our labelled test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matters. You cannot see the communal story until you remove the self-transfer noise. The engine makes the insight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technical moat. Cross-institution self-transfer matching is genuinely unsolved in shipping products. The human-in-the-loop step turns uncertainty into a feature: the system gets smarter per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Western fintech models any of this. It is our uncopyable, locally authentic insight layer — and it only exists because the dedup engine cleared the noise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asks "why can't a big player just copy this?" — the answer is the sequence. You need correct cashflow before the communal layer is even possible, and few have solved the first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beachhead is multi-bank salary earners in Nigeria — the clearest pain and the easiest to reach through an open-banking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bank, this is strategic: the aggregator that owns the honest, cross-institution view owns the primary relationship with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build and demo the whole dedup and insight pipeline on a labelled mock dataset — no live bank credentials needed until pilot. GenAI is optional; drop it if the team doesn't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Engine-first is deliberate: phases 3 and 4 are the hard, differentiating 70% of the work, so we de-risk them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 statement explicitly asks for a secure solution — so consent, revocation and audit are first-class screens in the product, not fine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one-liner: honest first, meaningful second. Thank the judges and invite questions. Replace the bracketed team name and contact before exporting.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52" y="1139080"/>
            <a:ext cx="9207453" cy="75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52" y="2198267"/>
            <a:ext cx="10566448" cy="3846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E2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52" y="1139080"/>
            <a:ext cx="9207453" cy="75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52" y="2198267"/>
            <a:ext cx="10566448" cy="3846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E2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2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BA6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ZECATHON HACKATHON · TURNING FINANCIAL DATA INTO ACTIONABLE INSIGHTS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964157"/>
            <a:ext cx="10883425" cy="1422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i="0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Ajora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812752" y="3538925"/>
            <a:ext cx="10883425" cy="57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100" dirty="0">
                <a:solidFill>
                  <a:srgbClr val="FAF8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true cashflow.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12752" y="4267814"/>
            <a:ext cx="7521518" cy="651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honest view across every bank and wallet — and the invisible economy no other app can see.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752" y="5814084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FB3A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secure, consent-first multi-bank financial insights platform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2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2BA6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145405"/>
            <a:ext cx="9483677" cy="1087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Nobody has a view of their money they can actually trust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27" y="2616595"/>
            <a:ext cx="5149863" cy="3425430"/>
          </a:xfrm>
          <a:prstGeom prst="roundRect">
            <a:avLst>
              <a:gd name="adj" fmla="val 3615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2468" y="2973136"/>
            <a:ext cx="4569885" cy="330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numbers are wrong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72468" y="3417629"/>
            <a:ext cx="4569885" cy="120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Moving ₦200k from your GTBank to your Zenith account is logged as </a:t>
            </a:r>
            <a:r>
              <a:rPr lang="en-US" sz="1550" b="1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+₦200k income and ₦200k spending</a:t>
            </a:r>
            <a:r>
              <a:rPr lang="en-US" sz="15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Every aggregator double-counts — overstating both by 30–40%.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26081" y="2616595"/>
            <a:ext cx="5149928" cy="3425430"/>
          </a:xfrm>
          <a:prstGeom prst="roundRect">
            <a:avLst>
              <a:gd name="adj" fmla="val 3615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2621" y="2973136"/>
            <a:ext cx="4569952" cy="330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real story is invisible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2621" y="3417629"/>
            <a:ext cx="4569952" cy="120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Thrift groups (ajo/esusu), family support, remittances and informal loans — how Nigerians truly move money — are unlabelled noise to every tool built abroad.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1605418"/>
            <a:ext cx="10883425" cy="27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2BA6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HIDDEN COST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752" y="2082845"/>
            <a:ext cx="10883425" cy="1739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0"/>
              </a:lnSpc>
              <a:buNone/>
            </a:pPr>
            <a:r>
              <a:rPr lang="en-US" sz="150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12752" y="4025872"/>
            <a:ext cx="10137775" cy="125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dirty="0">
                <a:solidFill>
                  <a:srgbClr val="FAF8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what a typical multi-bank app calls your </a:t>
            </a:r>
            <a:r>
              <a:rPr lang="en-US" sz="2300" b="1" dirty="0">
                <a:solidFill>
                  <a:srgbClr val="FAF8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"income"</a:t>
            </a:r>
            <a:r>
              <a:rPr lang="en-US" sz="2300" dirty="0">
                <a:solidFill>
                  <a:srgbClr val="FAF8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can just be you moving money between your own accounts. The view you're trusting is a fiction — and you budget against it.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2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2BA6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145405"/>
            <a:ext cx="9810726" cy="1031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secure view that is finally accurate — then finally meaningful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52" y="2506796"/>
            <a:ext cx="4800671" cy="3538404"/>
          </a:xfrm>
          <a:prstGeom prst="roundRect">
            <a:avLst>
              <a:gd name="adj" fmla="val 3589"/>
            </a:avLst>
          </a:prstGeom>
          <a:solidFill>
            <a:srgbClr val="E9F3F1"/>
          </a:solidFill>
          <a:ln/>
        </p:spPr>
      </p:sp>
      <p:sp>
        <p:nvSpPr>
          <p:cNvPr id="5" name="Text 3"/>
          <p:cNvSpPr/>
          <p:nvPr/>
        </p:nvSpPr>
        <p:spPr>
          <a:xfrm>
            <a:off x="1155643" y="2849687"/>
            <a:ext cx="4238335" cy="27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8A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— Subtract the noise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55643" y="3212795"/>
            <a:ext cx="4238335" cy="345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dedup engine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55643" y="3647114"/>
            <a:ext cx="4238335" cy="88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C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Detects money you move </a:t>
            </a:r>
            <a:r>
              <a:rPr lang="en-US" sz="1500" b="1" dirty="0">
                <a:solidFill>
                  <a:srgbClr val="3C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yourself</a:t>
            </a:r>
            <a:r>
              <a:rPr lang="en-US" sz="1500" dirty="0">
                <a:solidFill>
                  <a:srgbClr val="3C4F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banks and removes it — producing cashflow that is arithmetically correct for the first time.</a:t>
            </a:r>
            <a:endParaRPr lang="en-US" sz="15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5841995" y="4129953"/>
            <a:ext cx="507946" cy="2920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78513" y="2506796"/>
            <a:ext cx="4800671" cy="3538404"/>
          </a:xfrm>
          <a:prstGeom prst="roundRect">
            <a:avLst>
              <a:gd name="adj" fmla="val 3589"/>
            </a:avLst>
          </a:prstGeom>
          <a:solidFill>
            <a:srgbClr val="FBEFD9"/>
          </a:solidFill>
          <a:ln/>
        </p:spPr>
      </p:sp>
      <p:sp>
        <p:nvSpPr>
          <p:cNvPr id="10" name="Text 7"/>
          <p:cNvSpPr/>
          <p:nvPr/>
        </p:nvSpPr>
        <p:spPr>
          <a:xfrm>
            <a:off x="6921405" y="2849687"/>
            <a:ext cx="4238335" cy="27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684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— Reveal the story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21405" y="3212795"/>
            <a:ext cx="4238335" cy="345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Communal insight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921405" y="3647114"/>
            <a:ext cx="4238335" cy="1168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A4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What's left is the real economy: thrift groups, dependents, remittances and loans — classified into commitments your bank can't see.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3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2BA6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ENGINE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132753"/>
            <a:ext cx="9483677" cy="97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stages turn double-counted chaos into truth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752" y="2412823"/>
            <a:ext cx="2527338" cy="3044414"/>
          </a:xfrm>
          <a:prstGeom prst="roundRect">
            <a:avLst>
              <a:gd name="adj" fmla="val 4523"/>
            </a:avLst>
          </a:prstGeom>
          <a:solidFill>
            <a:srgbClr val="F3F6F4"/>
          </a:solidFill>
          <a:ln/>
        </p:spPr>
      </p:sp>
      <p:sp>
        <p:nvSpPr>
          <p:cNvPr id="5" name="Text 3"/>
          <p:cNvSpPr/>
          <p:nvPr/>
        </p:nvSpPr>
        <p:spPr>
          <a:xfrm>
            <a:off x="1066693" y="2666764"/>
            <a:ext cx="2080041" cy="505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66693" y="3235685"/>
            <a:ext cx="2080041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Candidate match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693" y="3553141"/>
            <a:ext cx="2080041" cy="94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 each outflow with inflows in your other accounts by amount and time window.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2428" y="2412823"/>
            <a:ext cx="2527403" cy="3044414"/>
          </a:xfrm>
          <a:prstGeom prst="roundRect">
            <a:avLst>
              <a:gd name="adj" fmla="val 4522"/>
            </a:avLst>
          </a:prstGeom>
          <a:solidFill>
            <a:srgbClr val="F3F6F4"/>
          </a:solidFill>
          <a:ln/>
        </p:spPr>
      </p:sp>
      <p:sp>
        <p:nvSpPr>
          <p:cNvPr id="9" name="Text 7"/>
          <p:cNvSpPr/>
          <p:nvPr/>
        </p:nvSpPr>
        <p:spPr>
          <a:xfrm>
            <a:off x="3746369" y="2666764"/>
            <a:ext cx="2080109" cy="505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746369" y="3235685"/>
            <a:ext cx="2080109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scoring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6369" y="3553141"/>
            <a:ext cx="2080109" cy="94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 amount (with fees and FX), timing, name and narration, plus your own patterns.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170" y="2412823"/>
            <a:ext cx="2527338" cy="3044414"/>
          </a:xfrm>
          <a:prstGeom prst="roundRect">
            <a:avLst>
              <a:gd name="adj" fmla="val 4523"/>
            </a:avLst>
          </a:prstGeom>
          <a:solidFill>
            <a:srgbClr val="F3F6F4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110" y="2666764"/>
            <a:ext cx="2080041" cy="505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426110" y="3235685"/>
            <a:ext cx="2080041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Optimal pairing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6110" y="3553141"/>
            <a:ext cx="2080041" cy="94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Hungarian algorithm matches each transfer exactly once, globally — never greedily.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1846" y="2412823"/>
            <a:ext cx="2527338" cy="3044414"/>
          </a:xfrm>
          <a:prstGeom prst="roundRect">
            <a:avLst>
              <a:gd name="adj" fmla="val 4523"/>
            </a:avLst>
          </a:prstGeom>
          <a:solidFill>
            <a:srgbClr val="F3F6F4"/>
          </a:solidFill>
          <a:ln/>
        </p:spPr>
      </p:sp>
      <p:sp>
        <p:nvSpPr>
          <p:cNvPr id="17" name="Text 15"/>
          <p:cNvSpPr/>
          <p:nvPr/>
        </p:nvSpPr>
        <p:spPr>
          <a:xfrm>
            <a:off x="9105786" y="2666764"/>
            <a:ext cx="2080041" cy="505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05786" y="3235685"/>
            <a:ext cx="2080041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Confidence tiers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05786" y="3553141"/>
            <a:ext cx="2080041" cy="94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Auto-collapse the certain; ask you about the rest — and every answer trains the model.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752" y="5787411"/>
            <a:ext cx="10883425" cy="28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1F8A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Result:</a:t>
            </a:r>
            <a:r>
              <a:rPr lang="en-US" sz="1450" dirty="0">
                <a:solidFill>
                  <a:srgbClr val="0E2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accurate income and spending, with a measurable precision/recall score we report on labelled data.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0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STORY — OUR EDGE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132753"/>
            <a:ext cx="9810726" cy="1031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8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Nigeria's invisible economy, finally made visible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27" y="2446517"/>
            <a:ext cx="5187948" cy="1705692"/>
          </a:xfrm>
          <a:prstGeom prst="roundRect">
            <a:avLst>
              <a:gd name="adj" fmla="val 6515"/>
            </a:avLst>
          </a:prstGeom>
          <a:solidFill>
            <a:srgbClr val="12332F"/>
          </a:solidFill>
          <a:ln w="6350">
            <a:solidFill>
              <a:srgbClr val="2251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6299" y="2726888"/>
            <a:ext cx="4766020" cy="284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Thrift groups · Ajo / Esusu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6299" y="3074867"/>
            <a:ext cx="4766020" cy="523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"₦50k every month to your group — next payout around March, you're 3rd of 8 in the rotation."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7996" y="2446517"/>
            <a:ext cx="5188013" cy="1705692"/>
          </a:xfrm>
          <a:prstGeom prst="roundRect">
            <a:avLst>
              <a:gd name="adj" fmla="val 6515"/>
            </a:avLst>
          </a:prstGeom>
          <a:solidFill>
            <a:srgbClr val="12332F"/>
          </a:solidFill>
          <a:ln w="6350">
            <a:solidFill>
              <a:srgbClr val="225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8368" y="2726888"/>
            <a:ext cx="4766087" cy="284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Dependents · "Black tax"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8368" y="3074867"/>
            <a:ext cx="4766087" cy="523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"₦80k a month supports 2 family members — that's 18% of your take-home income."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27" y="4336331"/>
            <a:ext cx="5187948" cy="1705692"/>
          </a:xfrm>
          <a:prstGeom prst="roundRect">
            <a:avLst>
              <a:gd name="adj" fmla="val 6515"/>
            </a:avLst>
          </a:prstGeom>
          <a:solidFill>
            <a:srgbClr val="12332F"/>
          </a:solidFill>
          <a:ln w="6350">
            <a:solidFill>
              <a:srgbClr val="2251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6299" y="4616704"/>
            <a:ext cx="4766020" cy="284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Informal lending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6299" y="4964680"/>
            <a:ext cx="4766020" cy="523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"You lent Tunde ₦120k; ₦40k has come back. Net, he still owes you ₦80k."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7996" y="4336331"/>
            <a:ext cx="5188013" cy="1705692"/>
          </a:xfrm>
          <a:prstGeom prst="roundRect">
            <a:avLst>
              <a:gd name="adj" fmla="val 6515"/>
            </a:avLst>
          </a:prstGeom>
          <a:solidFill>
            <a:srgbClr val="12332F"/>
          </a:solidFill>
          <a:ln w="6350">
            <a:solidFill>
              <a:srgbClr val="2251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8368" y="4616704"/>
            <a:ext cx="4766087" cy="284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Remittances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8368" y="4964680"/>
            <a:ext cx="4766087" cy="523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"₦X sent abroad each month, detected and tracked automatically — never guessed."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3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2BA6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INNOVATION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132753"/>
            <a:ext cx="9483677" cy="52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halves no competitor has together</a:t>
            </a:r>
            <a:endParaRPr lang="en-US" sz="3600" dirty="0"/>
          </a:p>
        </p:txBody>
      </p:sp>
      <p:pic>
        <p:nvPicPr>
          <p:cNvPr id="4" name="Image 0" descr="Verifi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752" y="2427759"/>
            <a:ext cx="368259" cy="368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9584" y="2427759"/>
            <a:ext cx="8829647" cy="330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Accuracy nobody else has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409584" y="2783300"/>
            <a:ext cx="8829647" cy="577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Cross-institution transfer dedup is unsolved in shipping products. Our numbers are right where every competitor's are inflated.</a:t>
            </a:r>
            <a:endParaRPr lang="en-US" sz="1500" dirty="0"/>
          </a:p>
        </p:txBody>
      </p:sp>
      <p:pic>
        <p:nvPicPr>
          <p:cNvPr id="7" name="Image 1" descr="Lightbulb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752" y="3526144"/>
            <a:ext cx="368259" cy="3682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09584" y="3526144"/>
            <a:ext cx="8829647" cy="330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Insight nobody else has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409584" y="3881686"/>
            <a:ext cx="8829647" cy="577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Communal patterns only emerge after dedup — so we are the only ones who can surface them. The moat is the sequence.</a:t>
            </a:r>
            <a:endParaRPr lang="en-US" sz="1500" dirty="0"/>
          </a:p>
        </p:txBody>
      </p:sp>
      <p:pic>
        <p:nvPicPr>
          <p:cNvPr id="10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752" y="4624530"/>
            <a:ext cx="368259" cy="3682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09584" y="4624530"/>
            <a:ext cx="8829647" cy="330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for Nigeria, not ported to it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409584" y="4980071"/>
            <a:ext cx="8829647" cy="577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Ajo, black tax, remittances and informal lending are native concepts here — not an afterthought bolted onto a Mint clone.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0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2BA6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132753"/>
            <a:ext cx="9156695" cy="1031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everyone whose money lives in more than one place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52" y="2519576"/>
            <a:ext cx="3369763" cy="3525622"/>
          </a:xfrm>
          <a:prstGeom prst="roundRect">
            <a:avLst>
              <a:gd name="adj" fmla="val 3769"/>
            </a:avLst>
          </a:prstGeom>
          <a:solidFill>
            <a:srgbClr val="F3F6F4"/>
          </a:solidFill>
          <a:ln/>
        </p:spPr>
      </p:sp>
      <p:pic>
        <p:nvPicPr>
          <p:cNvPr id="5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2927" y="2849752"/>
            <a:ext cx="380976" cy="380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927" y="3357696"/>
            <a:ext cx="2790696" cy="314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Multi-bank earners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2927" y="3774213"/>
            <a:ext cx="2790696" cy="826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3"/>
              </a:lnSpc>
              <a:buNone/>
            </a:pPr>
            <a:r>
              <a:rPr lang="en-US" sz="14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salaried professional juggling 2–4 banks and wallets with no single source of truth.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411087" y="2519576"/>
            <a:ext cx="3369763" cy="3525622"/>
          </a:xfrm>
          <a:prstGeom prst="roundRect">
            <a:avLst>
              <a:gd name="adj" fmla="val 3769"/>
            </a:avLst>
          </a:prstGeom>
          <a:solidFill>
            <a:srgbClr val="F3F6F4"/>
          </a:solidFill>
          <a:ln/>
        </p:spPr>
      </p:sp>
      <p:pic>
        <p:nvPicPr>
          <p:cNvPr id="9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41261" y="2849752"/>
            <a:ext cx="380976" cy="380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41261" y="3357696"/>
            <a:ext cx="2790696" cy="314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Gig &amp; SME owners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741261" y="3774213"/>
            <a:ext cx="2790696" cy="1093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3"/>
              </a:lnSpc>
              <a:buNone/>
            </a:pPr>
            <a:r>
              <a:rPr lang="en-US" sz="14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Freelancers and small businesses with irregular income and blurred personal-business flows.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009422" y="2519576"/>
            <a:ext cx="3369763" cy="3525622"/>
          </a:xfrm>
          <a:prstGeom prst="roundRect">
            <a:avLst>
              <a:gd name="adj" fmla="val 3769"/>
            </a:avLst>
          </a:prstGeom>
          <a:solidFill>
            <a:srgbClr val="F3F6F4"/>
          </a:solidFill>
          <a:ln/>
        </p:spPr>
      </p:sp>
      <p:pic>
        <p:nvPicPr>
          <p:cNvPr id="13" name="Image 2" descr="Hom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39596" y="2849752"/>
            <a:ext cx="380976" cy="3809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9596" y="3357696"/>
            <a:ext cx="2790696" cy="604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communally committed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8339596" y="4063758"/>
            <a:ext cx="2790696" cy="826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3"/>
              </a:lnSpc>
              <a:buNone/>
            </a:pPr>
            <a:r>
              <a:rPr lang="en-US" sz="14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Anyone supporting family, saving in a thrift group, or lending within their circle.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0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2BA6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IMPACT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132756"/>
            <a:ext cx="9156695" cy="1031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8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confusion to control — and inclusion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27" y="2497317"/>
            <a:ext cx="3380368" cy="3544705"/>
          </a:xfrm>
          <a:prstGeom prst="roundRect">
            <a:avLst>
              <a:gd name="adj" fmla="val 3663"/>
            </a:avLst>
          </a:prstGeom>
          <a:solidFill>
            <a:srgbClr val="12332F"/>
          </a:solidFill>
          <a:ln w="6350">
            <a:solidFill>
              <a:srgbClr val="2251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4384" y="2815779"/>
            <a:ext cx="2825758" cy="299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Honest budgeting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4384" y="3204319"/>
            <a:ext cx="2825758" cy="1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see their real discretionary income once the phantom 30–40% is stripped away.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05784" y="2497317"/>
            <a:ext cx="3380368" cy="3544705"/>
          </a:xfrm>
          <a:prstGeom prst="roundRect">
            <a:avLst>
              <a:gd name="adj" fmla="val 3663"/>
            </a:avLst>
          </a:prstGeom>
          <a:solidFill>
            <a:srgbClr val="12332F"/>
          </a:solidFill>
          <a:ln w="6350">
            <a:solidFill>
              <a:srgbClr val="225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4241" y="2815779"/>
            <a:ext cx="2825758" cy="299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Financial inclusion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24241" y="3204319"/>
            <a:ext cx="2825758" cy="85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Clean, consolidated cashflow can underwrite credit for thin-file and self-employed users.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995641" y="2497317"/>
            <a:ext cx="3380368" cy="3544705"/>
          </a:xfrm>
          <a:prstGeom prst="roundRect">
            <a:avLst>
              <a:gd name="adj" fmla="val 3663"/>
            </a:avLst>
          </a:prstGeom>
          <a:solidFill>
            <a:srgbClr val="12332F"/>
          </a:solidFill>
          <a:ln w="6350">
            <a:solidFill>
              <a:srgbClr val="2251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4098" y="2815779"/>
            <a:ext cx="2825758" cy="299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Deeper trust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14098" y="3204319"/>
            <a:ext cx="2825758" cy="854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Insights a single bank simply cannot offer — a reason for customers to stay and engage.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7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2BA6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132756"/>
            <a:ext cx="9156695" cy="500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secure, modern, AI-driven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27" y="1915616"/>
            <a:ext cx="3405736" cy="1977501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8215" y="2157909"/>
            <a:ext cx="3008795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8A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aggregation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8215" y="2449934"/>
            <a:ext cx="3008795" cy="71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Open-banking APIs (Mono, Okra, Stitch) + schema-matched mock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3068" y="1915616"/>
            <a:ext cx="3405736" cy="1977501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5355" y="2157909"/>
            <a:ext cx="3008795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8A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/ ML &amp; analytics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35355" y="2449934"/>
            <a:ext cx="3008795" cy="487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Dedup classifier, Hungarian matching, RapidFuzz, NetworkX graphs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0208" y="1915616"/>
            <a:ext cx="3405736" cy="1977501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2496" y="2157909"/>
            <a:ext cx="3008795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8A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2496" y="2449934"/>
            <a:ext cx="3008795" cy="487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assistant that explains insights in plain language, grounded on your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27" y="4064527"/>
            <a:ext cx="3405736" cy="1977501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8215" y="4306813"/>
            <a:ext cx="3008795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8A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8215" y="4598839"/>
            <a:ext cx="3008795" cy="718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+ FastAPI backend; React / Next.js, Recharts and Cytoscape.js front 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3068" y="4064527"/>
            <a:ext cx="3405736" cy="1977501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5355" y="4306813"/>
            <a:ext cx="3008795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8A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35355" y="4598839"/>
            <a:ext cx="3008795" cy="487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Containerised with Docker, deployed on scalable cloud infrastructure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0208" y="4064527"/>
            <a:ext cx="3405736" cy="1977501"/>
          </a:xfrm>
          <a:prstGeom prst="roundRect">
            <a:avLst>
              <a:gd name="adj" fmla="val 4977"/>
            </a:avLst>
          </a:prstGeom>
          <a:solidFill>
            <a:srgbClr val="FFFFFF"/>
          </a:solidFill>
          <a:ln w="6350">
            <a:solidFill>
              <a:srgbClr val="E3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2496" y="4306813"/>
            <a:ext cx="3008795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8A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12496" y="4598839"/>
            <a:ext cx="3008795" cy="487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OAuth consent, encryption at rest &amp; in transit, revocable tokens, audit log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0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2BA6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APPROACH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132749"/>
            <a:ext cx="9156695" cy="500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phases, engine-first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752" y="1912441"/>
            <a:ext cx="3412086" cy="1983851"/>
          </a:xfrm>
          <a:prstGeom prst="roundRect">
            <a:avLst>
              <a:gd name="adj" fmla="val 5121"/>
            </a:avLst>
          </a:prstGeom>
          <a:solidFill>
            <a:srgbClr val="F3F6F4"/>
          </a:solidFill>
          <a:ln/>
        </p:spPr>
      </p:sp>
      <p:sp>
        <p:nvSpPr>
          <p:cNvPr id="5" name="Text 3"/>
          <p:cNvSpPr/>
          <p:nvPr/>
        </p:nvSpPr>
        <p:spPr>
          <a:xfrm>
            <a:off x="1054041" y="2153729"/>
            <a:ext cx="3017393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4041" y="2448297"/>
            <a:ext cx="3017393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Secure data layer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4041" y="2740323"/>
            <a:ext cx="3017393" cy="69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Consent flow + ingestion against open-banking APIs and a labelled mock dataset.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893" y="1912441"/>
            <a:ext cx="3412086" cy="1983851"/>
          </a:xfrm>
          <a:prstGeom prst="roundRect">
            <a:avLst>
              <a:gd name="adj" fmla="val 5121"/>
            </a:avLst>
          </a:prstGeom>
          <a:solidFill>
            <a:srgbClr val="F3F6F4"/>
          </a:solidFill>
          <a:ln/>
        </p:spPr>
      </p:sp>
      <p:sp>
        <p:nvSpPr>
          <p:cNvPr id="9" name="Text 7"/>
          <p:cNvSpPr/>
          <p:nvPr/>
        </p:nvSpPr>
        <p:spPr>
          <a:xfrm>
            <a:off x="4631182" y="2153729"/>
            <a:ext cx="3017393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31182" y="2448297"/>
            <a:ext cx="3017393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Normalization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1182" y="2740323"/>
            <a:ext cx="3017393" cy="46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Unify multi-bank schemas, currencies and categories into one model.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67033" y="1912441"/>
            <a:ext cx="3412086" cy="1983851"/>
          </a:xfrm>
          <a:prstGeom prst="roundRect">
            <a:avLst>
              <a:gd name="adj" fmla="val 5121"/>
            </a:avLst>
          </a:prstGeom>
          <a:solidFill>
            <a:srgbClr val="F3F6F4"/>
          </a:solidFill>
          <a:ln/>
        </p:spPr>
      </p:sp>
      <p:sp>
        <p:nvSpPr>
          <p:cNvPr id="13" name="Text 11"/>
          <p:cNvSpPr/>
          <p:nvPr/>
        </p:nvSpPr>
        <p:spPr>
          <a:xfrm>
            <a:off x="8208322" y="2153729"/>
            <a:ext cx="3017393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08322" y="2448297"/>
            <a:ext cx="3017393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Dedup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8322" y="2740323"/>
            <a:ext cx="3017393" cy="46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core: match, score, pair, tier — and report accuracy metrics.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2752" y="4061346"/>
            <a:ext cx="3412086" cy="1983851"/>
          </a:xfrm>
          <a:prstGeom prst="roundRect">
            <a:avLst>
              <a:gd name="adj" fmla="val 5121"/>
            </a:avLst>
          </a:prstGeom>
          <a:solidFill>
            <a:srgbClr val="F3F6F4"/>
          </a:solidFill>
          <a:ln/>
        </p:spPr>
      </p:sp>
      <p:sp>
        <p:nvSpPr>
          <p:cNvPr id="17" name="Text 15"/>
          <p:cNvSpPr/>
          <p:nvPr/>
        </p:nvSpPr>
        <p:spPr>
          <a:xfrm>
            <a:off x="1054041" y="4302633"/>
            <a:ext cx="3017393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4041" y="4597202"/>
            <a:ext cx="3017393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Insight engine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4041" y="4889227"/>
            <a:ext cx="3017393" cy="469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 graph + communal-finance classifiers, with a GenAI explainer.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893" y="4061346"/>
            <a:ext cx="3412086" cy="1983851"/>
          </a:xfrm>
          <a:prstGeom prst="roundRect">
            <a:avLst>
              <a:gd name="adj" fmla="val 5121"/>
            </a:avLst>
          </a:prstGeom>
          <a:solidFill>
            <a:srgbClr val="F3F6F4"/>
          </a:solidFill>
          <a:ln/>
        </p:spPr>
      </p:sp>
      <p:sp>
        <p:nvSpPr>
          <p:cNvPr id="21" name="Text 19"/>
          <p:cNvSpPr/>
          <p:nvPr/>
        </p:nvSpPr>
        <p:spPr>
          <a:xfrm>
            <a:off x="4631182" y="4302633"/>
            <a:ext cx="3017393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31182" y="4597202"/>
            <a:ext cx="3017393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Experience &amp; security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31182" y="4889227"/>
            <a:ext cx="3017393" cy="69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with dedup toggle + graph view; consent, revocation, audit screens.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67033" y="4061346"/>
            <a:ext cx="3412086" cy="1983851"/>
          </a:xfrm>
          <a:prstGeom prst="roundRect">
            <a:avLst>
              <a:gd name="adj" fmla="val 5121"/>
            </a:avLst>
          </a:prstGeom>
          <a:solidFill>
            <a:srgbClr val="F3F6F4"/>
          </a:solidFill>
          <a:ln/>
        </p:spPr>
      </p:sp>
      <p:sp>
        <p:nvSpPr>
          <p:cNvPr id="25" name="Text 23"/>
          <p:cNvSpPr/>
          <p:nvPr/>
        </p:nvSpPr>
        <p:spPr>
          <a:xfrm>
            <a:off x="8208322" y="4302633"/>
            <a:ext cx="3017393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08322" y="4597202"/>
            <a:ext cx="3017393" cy="25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B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 &amp; demo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08322" y="4889227"/>
            <a:ext cx="3017393" cy="69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A5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Containerised cloud deployment, demoed on the labelled persona dataset.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0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&amp; TRUST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132749"/>
            <a:ext cx="9156695" cy="52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8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Consent-first, and private by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27" y="1994396"/>
            <a:ext cx="5187948" cy="1931721"/>
          </a:xfrm>
          <a:prstGeom prst="roundRect">
            <a:avLst>
              <a:gd name="adj" fmla="val 5753"/>
            </a:avLst>
          </a:prstGeom>
          <a:solidFill>
            <a:srgbClr val="12332F"/>
          </a:solidFill>
          <a:ln w="6350">
            <a:solidFill>
              <a:srgbClr val="2251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6299" y="2274763"/>
            <a:ext cx="4766020" cy="284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AF8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Customer-permitted only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6299" y="2610030"/>
            <a:ext cx="4766020" cy="523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is granted per account through open banking — and revocable at any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7996" y="1994396"/>
            <a:ext cx="5188013" cy="1931721"/>
          </a:xfrm>
          <a:prstGeom prst="roundRect">
            <a:avLst>
              <a:gd name="adj" fmla="val 5753"/>
            </a:avLst>
          </a:prstGeom>
          <a:solidFill>
            <a:srgbClr val="12332F"/>
          </a:solidFill>
          <a:ln w="6350">
            <a:solidFill>
              <a:srgbClr val="2251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8368" y="2274763"/>
            <a:ext cx="4766087" cy="284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AF8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Encrypted end to 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8368" y="2610030"/>
            <a:ext cx="4766087" cy="523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encrypted in transit and at rest, with scoped, short-lived tokens.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27" y="4110236"/>
            <a:ext cx="5187948" cy="1931787"/>
          </a:xfrm>
          <a:prstGeom prst="roundRect">
            <a:avLst>
              <a:gd name="adj" fmla="val 5752"/>
            </a:avLst>
          </a:prstGeom>
          <a:solidFill>
            <a:srgbClr val="12332F"/>
          </a:solidFill>
          <a:ln w="6350">
            <a:solidFill>
              <a:srgbClr val="2251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6299" y="4390610"/>
            <a:ext cx="4766020" cy="284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AF8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minimization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6299" y="4725870"/>
            <a:ext cx="4766020" cy="523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pull only the fields an insight needs — nothing is collected "just in case".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7996" y="4110236"/>
            <a:ext cx="5188013" cy="1931787"/>
          </a:xfrm>
          <a:prstGeom prst="roundRect">
            <a:avLst>
              <a:gd name="adj" fmla="val 5752"/>
            </a:avLst>
          </a:prstGeom>
          <a:solidFill>
            <a:srgbClr val="12332F"/>
          </a:solidFill>
          <a:ln w="6350">
            <a:solidFill>
              <a:srgbClr val="2251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8368" y="4390610"/>
            <a:ext cx="4766087" cy="284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AF8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Auditable, never sold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8368" y="4725870"/>
            <a:ext cx="4766087" cy="523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append-only audit log records every access; customer data is never sold.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2" y="812750"/>
            <a:ext cx="10883425" cy="25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BA6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AJORA · YOUR TRUE CASHFLOW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52" y="1838102"/>
            <a:ext cx="10137775" cy="2385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95"/>
              </a:lnSpc>
              <a:buNone/>
            </a:pPr>
            <a:r>
              <a:rPr lang="en-US" sz="5900" b="1" i="0" dirty="0">
                <a:solidFill>
                  <a:srgbClr val="FAF8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 we make your money </a:t>
            </a:r>
            <a:r>
              <a:rPr lang="en-US" sz="5900" b="1" i="0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honest</a:t>
            </a:r>
            <a:r>
              <a:rPr lang="en-US" sz="5900" b="1" i="0" dirty="0">
                <a:solidFill>
                  <a:srgbClr val="FAF8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Then we make it </a:t>
            </a:r>
            <a:r>
              <a:rPr lang="en-US" sz="5900" b="1" i="0" dirty="0">
                <a:solidFill>
                  <a:srgbClr val="E8A1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 sense</a:t>
            </a:r>
            <a:r>
              <a:rPr lang="en-US" sz="5900" b="1" i="0" dirty="0">
                <a:solidFill>
                  <a:srgbClr val="FAF8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900" dirty="0"/>
          </a:p>
        </p:txBody>
      </p:sp>
      <p:sp>
        <p:nvSpPr>
          <p:cNvPr id="4" name="Text 2"/>
          <p:cNvSpPr/>
          <p:nvPr/>
        </p:nvSpPr>
        <p:spPr>
          <a:xfrm>
            <a:off x="812752" y="4376068"/>
            <a:ext cx="8502598" cy="651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BFD6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 cross-bank cashflow, plus the communal insights no one else can see — securely, and with the customer in control.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52" y="5796347"/>
            <a:ext cx="3972345" cy="27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FB3A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[your team name] · [contact email]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62543" y="5796347"/>
            <a:ext cx="2616641" cy="27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FB3A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Zecathon Hackathon 2025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jora Pitch Deck">
  <a:themeElements>
    <a:clrScheme name="Ajora Pitch Deck">
      <a:dk1>
        <a:srgbClr val="0E2B2A"/>
      </a:dk1>
      <a:lt1>
        <a:srgbClr val="FAF8F3"/>
      </a:lt1>
      <a:dk2>
        <a:srgbClr val="495E5C"/>
      </a:dk2>
      <a:lt2>
        <a:srgbClr val="E2E4DF"/>
      </a:lt2>
      <a:accent1>
        <a:srgbClr val="E8A13A"/>
      </a:accent1>
      <a:accent2>
        <a:srgbClr val="2BA697"/>
      </a:accent2>
      <a:accent3>
        <a:srgbClr val="1F8A80"/>
      </a:accent3>
      <a:accent4>
        <a:srgbClr val="C6841F"/>
      </a:accent4>
      <a:accent5>
        <a:srgbClr val="5A4A2E"/>
      </a:accent5>
      <a:accent6>
        <a:srgbClr val="4A5A57"/>
      </a:accent6>
      <a:hlink>
        <a:srgbClr val="0563C1"/>
      </a:hlink>
      <a:folHlink>
        <a:srgbClr val="954F72"/>
      </a:folHlink>
    </a:clrScheme>
    <a:fontScheme name="Ajora Pitch Deck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Ajora Pitch Deck</dc:title>
  <dc:subject/>
  <dc:creator/>
  <cp:lastModifiedBy/>
  <cp:revision>1</cp:revision>
  <dcterms:created xsi:type="dcterms:W3CDTF">2026-10-09T08:54:58Z</dcterms:created>
  <dcterms:modified xsi:type="dcterms:W3CDTF">2026-10-09T08:54:58Z</dcterms:modified>
</cp:coreProperties>
</file>